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57" r:id="rId4"/>
    <p:sldId id="264" r:id="rId5"/>
    <p:sldId id="265" r:id="rId6"/>
    <p:sldId id="259" r:id="rId7"/>
    <p:sldId id="269" r:id="rId8"/>
    <p:sldId id="260" r:id="rId9"/>
    <p:sldId id="266" r:id="rId10"/>
    <p:sldId id="268" r:id="rId11"/>
    <p:sldId id="267" r:id="rId12"/>
    <p:sldId id="270" r:id="rId13"/>
    <p:sldId id="271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78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368D-96F9-4A69-88F9-3808EE8604D7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9BC0E-6D01-4F29-BACD-DFB5A8FC63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11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9BC0E-6D01-4F29-BACD-DFB5A8FC635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908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9BC0E-6D01-4F29-BACD-DFB5A8FC635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016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u="sng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9BC0E-6D01-4F29-BACD-DFB5A8FC635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29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0207" y="2286000"/>
            <a:ext cx="1141158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 err="1"/>
              <a:t>Projeto</a:t>
            </a:r>
            <a:r>
              <a:rPr sz="4000" dirty="0"/>
              <a:t> </a:t>
            </a:r>
            <a:r>
              <a:rPr sz="4000" dirty="0" err="1"/>
              <a:t>Bellabeat</a:t>
            </a:r>
            <a:endParaRPr sz="4000" dirty="0"/>
          </a:p>
          <a:p>
            <a:pPr lvl="1">
              <a:defRPr sz="2000">
                <a:solidFill>
                  <a:srgbClr val="DCDCDC"/>
                </a:solidFill>
              </a:defRPr>
            </a:pPr>
            <a:r>
              <a:rPr lang="pt-BR" sz="2000" dirty="0"/>
              <a:t>Estudo de caso com foco em comportamento, engajamento e oportunidades estratégicas para produto</a:t>
            </a:r>
            <a:endParaRPr sz="2000" dirty="0"/>
          </a:p>
          <a:p>
            <a:pPr lvl="1">
              <a:defRPr sz="1800">
                <a:solidFill>
                  <a:srgbClr val="E74C3C"/>
                </a:solidFill>
              </a:defRPr>
            </a:pPr>
            <a:r>
              <a:rPr dirty="0"/>
              <a:t>Gabriel Borges</a:t>
            </a:r>
            <a:r>
              <a:rPr lang="pt-BR" dirty="0"/>
              <a:t> – 20/02/2026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1" y="274320"/>
            <a:ext cx="18147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pt-BR" sz="2800" dirty="0"/>
              <a:t>Introdução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255521" y="1826895"/>
            <a:ext cx="7315200" cy="1554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pt-BR" b="1" dirty="0"/>
              <a:t>Sobre uma empresa: </a:t>
            </a:r>
            <a:r>
              <a:rPr lang="pt-BR" dirty="0" err="1"/>
              <a:t>Bellabeat</a:t>
            </a:r>
            <a:r>
              <a:rPr lang="pt-BR" dirty="0"/>
              <a:t>, fabricante de alta tecnologia de produtos voltados para a saúde feminina. </a:t>
            </a:r>
            <a:r>
              <a:rPr lang="pt-BR" dirty="0" err="1"/>
              <a:t>Bellabeat</a:t>
            </a:r>
            <a:r>
              <a:rPr lang="pt-BR" dirty="0"/>
              <a:t> é uma pequena empresa de sucesso, mas tem potencial para se tornar um player maior no mercado global de dispositivos inteligentes. </a:t>
            </a:r>
            <a:r>
              <a:rPr lang="pt-BR" dirty="0" err="1"/>
              <a:t>Urška</a:t>
            </a:r>
            <a:r>
              <a:rPr lang="pt-BR" dirty="0"/>
              <a:t> </a:t>
            </a:r>
            <a:r>
              <a:rPr lang="pt-BR" dirty="0" err="1"/>
              <a:t>Sršen</a:t>
            </a:r>
            <a:r>
              <a:rPr lang="pt-BR" dirty="0"/>
              <a:t>, cofundadora e diretora de criação da </a:t>
            </a:r>
            <a:r>
              <a:rPr lang="pt-BR" dirty="0" err="1"/>
              <a:t>Bellabeat</a:t>
            </a:r>
            <a:r>
              <a:rPr lang="pt-BR" dirty="0"/>
              <a:t>, acredita que a análise de dados de condicionamento físico de dispositivos inteligentes pode ajudar a desbloquear novas oportunidades de crescimento para a empresa.</a:t>
            </a:r>
            <a:endParaRPr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2D5F70A-C956-4C63-8A10-1E293A3F8A8F}"/>
              </a:ext>
            </a:extLst>
          </p:cNvPr>
          <p:cNvSpPr txBox="1"/>
          <p:nvPr/>
        </p:nvSpPr>
        <p:spPr>
          <a:xfrm>
            <a:off x="2255521" y="3609975"/>
            <a:ext cx="731520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pt-BR" b="1" dirty="0"/>
              <a:t>Perguntas para a análise: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Quais são algumas tendências no uso de dispositivos inteligentes?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Como essas tendências poderiam se aplicar aos clientes da </a:t>
            </a:r>
            <a:r>
              <a:rPr lang="pt-BR" dirty="0" err="1"/>
              <a:t>Bellabeat</a:t>
            </a:r>
            <a:r>
              <a:rPr lang="pt-BR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Como essas tendências poderiam ajudar a influenciar a estratégia de marketing da </a:t>
            </a:r>
            <a:r>
              <a:rPr lang="pt-BR" dirty="0" err="1"/>
              <a:t>Bellabeat</a:t>
            </a:r>
            <a:r>
              <a:rPr lang="pt-BR" dirty="0"/>
              <a:t>?</a:t>
            </a:r>
            <a:endParaRPr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2A85CF9-DC6B-4348-AA4B-185DA1153FC4}"/>
              </a:ext>
            </a:extLst>
          </p:cNvPr>
          <p:cNvSpPr txBox="1"/>
          <p:nvPr/>
        </p:nvSpPr>
        <p:spPr>
          <a:xfrm>
            <a:off x="2255521" y="5393055"/>
            <a:ext cx="731520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pt-BR" b="1" dirty="0"/>
              <a:t>Período analisado: </a:t>
            </a:r>
            <a:r>
              <a:rPr lang="pt-BR" dirty="0"/>
              <a:t>12/03/2016 à 12/05/2016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1052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1" y="274320"/>
            <a:ext cx="31776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800"/>
              <a:t>Objetivo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5521" y="1874520"/>
            <a:ext cx="7315200" cy="15544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Compreender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d</a:t>
            </a:r>
            <a:r>
              <a:rPr lang="pt-BR" dirty="0"/>
              <a:t>a</a:t>
            </a:r>
            <a:r>
              <a:rPr dirty="0"/>
              <a:t>s </a:t>
            </a:r>
            <a:r>
              <a:rPr dirty="0" err="1"/>
              <a:t>usuári</a:t>
            </a:r>
            <a:r>
              <a:rPr lang="pt-BR" dirty="0"/>
              <a:t>a</a:t>
            </a:r>
            <a:r>
              <a:rPr dirty="0"/>
              <a:t>s do app fitness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Analisar padrões de atividade física, intensidade, sono, gasto calórico e peso.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Gerar</a:t>
            </a:r>
            <a:r>
              <a:rPr dirty="0"/>
              <a:t> insights </a:t>
            </a:r>
            <a:r>
              <a:rPr dirty="0" err="1"/>
              <a:t>acionáveis</a:t>
            </a:r>
            <a:r>
              <a:rPr dirty="0"/>
              <a:t> para </a:t>
            </a:r>
            <a:r>
              <a:rPr dirty="0" err="1"/>
              <a:t>negócio</a:t>
            </a:r>
            <a:r>
              <a:rPr lang="pt-B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29296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800" dirty="0" err="1"/>
              <a:t>Perfil</a:t>
            </a:r>
            <a:r>
              <a:rPr sz="2800" dirty="0"/>
              <a:t> d</a:t>
            </a:r>
            <a:r>
              <a:rPr lang="pt-BR" sz="2800" dirty="0"/>
              <a:t>as </a:t>
            </a:r>
            <a:r>
              <a:rPr sz="2800" dirty="0" err="1"/>
              <a:t>Usuári</a:t>
            </a:r>
            <a:r>
              <a:rPr lang="pt-BR" sz="2800" dirty="0"/>
              <a:t>a</a:t>
            </a:r>
            <a:r>
              <a:rPr sz="2800" dirty="0"/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3064" y="1638121"/>
            <a:ext cx="4933950" cy="289560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A maioria da base apresenta perfil sedentário ou pouco ativo.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O público possui alto potencial de engajamento com metas de atividade.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O app pode atuar como ferramenta de mudança de comportamento.</a:t>
            </a:r>
            <a:endParaRPr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09E1F33-5A3A-4151-B323-D82BC681CF65}"/>
              </a:ext>
            </a:extLst>
          </p:cNvPr>
          <p:cNvSpPr txBox="1"/>
          <p:nvPr/>
        </p:nvSpPr>
        <p:spPr>
          <a:xfrm>
            <a:off x="704560" y="5902344"/>
            <a:ext cx="2895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35 usuárias analisadas – 100%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CF4F3D4-22C9-4C14-9CA0-0A5C97815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86" y="1638121"/>
            <a:ext cx="6668078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93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25112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pt-BR" sz="2800" dirty="0"/>
              <a:t>Análise de Peso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963064" y="1638121"/>
            <a:ext cx="4933950" cy="35865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Apenas 37% do total de usuárias(35) da base inseriu informações sobre seu peso no app.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u="sng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69% das 13 usuárias analisadas está acima do peso ideal.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O público apresenta forte demanda por soluções de saúde e controle de peso.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Existe alta oportunidade de retenção via metas personalizadas.</a:t>
            </a:r>
            <a:endParaRPr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A3CCB6E-5353-44F5-9DAB-30369F078B49}"/>
              </a:ext>
            </a:extLst>
          </p:cNvPr>
          <p:cNvSpPr txBox="1"/>
          <p:nvPr/>
        </p:nvSpPr>
        <p:spPr>
          <a:xfrm>
            <a:off x="294986" y="5748455"/>
            <a:ext cx="2772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13 usuárias analisadas – 37%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361196-DA06-4A07-9086-A68BE7216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86" y="1633298"/>
            <a:ext cx="6668078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41687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800"/>
              <a:t>Engajamento no Aplicativo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9475" y="1613177"/>
            <a:ext cx="4733925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A maioria das usuárias apresenta engajamento médio (54%).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Apenas 20% possuem alto nível de utilização.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Existe espaço para evolução da base ativa.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26% da base apresenta baixo engajamento.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Risco potencial de </a:t>
            </a:r>
            <a:r>
              <a:rPr lang="pt-BR" dirty="0" err="1"/>
              <a:t>churn</a:t>
            </a:r>
            <a:r>
              <a:rPr lang="pt-BR" dirty="0"/>
              <a:t> (abandono do app).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91CC15-173C-456D-B01A-0A7D494FF5C8}"/>
              </a:ext>
            </a:extLst>
          </p:cNvPr>
          <p:cNvSpPr txBox="1"/>
          <p:nvPr/>
        </p:nvSpPr>
        <p:spPr>
          <a:xfrm>
            <a:off x="7229475" y="5492500"/>
            <a:ext cx="46024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Obs</a:t>
            </a:r>
            <a:r>
              <a:rPr lang="pt-BR" sz="1400" b="1" u="sng" dirty="0"/>
              <a:t>.:</a:t>
            </a:r>
            <a:r>
              <a:rPr lang="pt-BR" sz="1400" b="1" dirty="0"/>
              <a:t> </a:t>
            </a:r>
            <a:r>
              <a:rPr lang="pt-BR" sz="1400" dirty="0"/>
              <a:t>Existe um público com necessidade clara de melhoria na saúde, porém o nível de engajamento ainda não é alto. Isso indica que a </a:t>
            </a:r>
            <a:r>
              <a:rPr lang="pt-BR" sz="1400" dirty="0" err="1"/>
              <a:t>Bellabeat</a:t>
            </a:r>
            <a:r>
              <a:rPr lang="pt-BR" sz="1400" dirty="0"/>
              <a:t> pode atuar como facilitadora dessa mudança comportamental.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4E4E2A3-E153-43CA-997D-8678E972D7D9}"/>
              </a:ext>
            </a:extLst>
          </p:cNvPr>
          <p:cNvSpPr txBox="1"/>
          <p:nvPr/>
        </p:nvSpPr>
        <p:spPr>
          <a:xfrm>
            <a:off x="704560" y="5902344"/>
            <a:ext cx="294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35 usuárias analisadas – 100%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E2A6E5-CC33-4CD9-89B9-B43240396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6" y="1613177"/>
            <a:ext cx="6668078" cy="4115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42083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pt-BR" dirty="0"/>
              <a:t>Total Acumulado de Passos</a:t>
            </a:r>
            <a:endParaRPr sz="2800"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C050E74-BE97-4FAE-A96C-CA69E10C5857}"/>
              </a:ext>
            </a:extLst>
          </p:cNvPr>
          <p:cNvSpPr txBox="1"/>
          <p:nvPr/>
        </p:nvSpPr>
        <p:spPr>
          <a:xfrm>
            <a:off x="1126286" y="4344413"/>
            <a:ext cx="9662160" cy="24088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A diferença entre a usuária mais ativa e a menos ativa ultrapassa 100 vezes.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Indica presença de perfis comportamentais muito distintos.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Possível necessidade de segmentação da base de usuárias.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48C89D-74A8-4FE8-91C7-DD8045B88D1E}"/>
              </a:ext>
            </a:extLst>
          </p:cNvPr>
          <p:cNvSpPr txBox="1"/>
          <p:nvPr/>
        </p:nvSpPr>
        <p:spPr>
          <a:xfrm>
            <a:off x="1264920" y="3927217"/>
            <a:ext cx="2830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35 usuárias analisadas – 100%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C159D3-AC79-489B-9DF8-DCEAC88A0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" y="1134843"/>
            <a:ext cx="4454834" cy="2749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6BB8B15-FC1D-461C-AD6A-62778A506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34844"/>
            <a:ext cx="4454834" cy="27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2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46108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800" dirty="0" err="1"/>
              <a:t>Correlação</a:t>
            </a:r>
            <a:r>
              <a:rPr sz="2800" dirty="0"/>
              <a:t>: </a:t>
            </a:r>
            <a:r>
              <a:rPr lang="pt-BR" sz="2800" dirty="0"/>
              <a:t>Passos</a:t>
            </a:r>
            <a:r>
              <a:rPr sz="2800" dirty="0"/>
              <a:t> vs </a:t>
            </a:r>
            <a:r>
              <a:rPr sz="2800" dirty="0" err="1"/>
              <a:t>Calorias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058025" y="1811655"/>
            <a:ext cx="4831080" cy="40919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Correlação positiva moderada (r = 0.43).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Aumento de passos tende a elevar o gasto calórico.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Relação consistente, porém não determinística.</a:t>
            </a:r>
            <a:endParaRPr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0EE46DE-4BDB-4436-8A52-BE209A420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" y="1811655"/>
            <a:ext cx="6668078" cy="41151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1AD9F0F-FA11-48CF-90BD-C4F4F0E83F88}"/>
              </a:ext>
            </a:extLst>
          </p:cNvPr>
          <p:cNvSpPr txBox="1"/>
          <p:nvPr/>
        </p:nvSpPr>
        <p:spPr>
          <a:xfrm>
            <a:off x="302894" y="5926812"/>
            <a:ext cx="2878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35 usuárias analisadas –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59431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800" dirty="0" err="1"/>
              <a:t>Correlação</a:t>
            </a:r>
            <a:r>
              <a:rPr sz="2800" dirty="0"/>
              <a:t>: </a:t>
            </a:r>
            <a:r>
              <a:rPr lang="pt-BR" sz="2800" dirty="0"/>
              <a:t>Atividade Física</a:t>
            </a:r>
            <a:r>
              <a:rPr sz="2800" dirty="0"/>
              <a:t> vs </a:t>
            </a:r>
            <a:r>
              <a:rPr sz="2800" dirty="0" err="1"/>
              <a:t>Calorias</a:t>
            </a:r>
            <a:endParaRPr sz="28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B43302-9B09-4D9A-89F5-8BFB49AEA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" y="1811655"/>
            <a:ext cx="6668078" cy="4115157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AB3D874C-BBA1-46DB-BDC3-ABD5F244C855}"/>
              </a:ext>
            </a:extLst>
          </p:cNvPr>
          <p:cNvSpPr txBox="1"/>
          <p:nvPr/>
        </p:nvSpPr>
        <p:spPr>
          <a:xfrm>
            <a:off x="7058025" y="1811655"/>
            <a:ext cx="4831080" cy="40919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Correlação positiva significativa (r = 0.63).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Minutos de atividade apresentam forte relação com gasto calórico.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Relação mais intensa do que passos </a:t>
            </a:r>
            <a:r>
              <a:rPr lang="pt-BR" dirty="0" err="1"/>
              <a:t>vs</a:t>
            </a:r>
            <a:r>
              <a:rPr lang="pt-BR" dirty="0"/>
              <a:t> calorias.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98767E8-4270-414D-8B24-90B234C657B6}"/>
              </a:ext>
            </a:extLst>
          </p:cNvPr>
          <p:cNvSpPr txBox="1"/>
          <p:nvPr/>
        </p:nvSpPr>
        <p:spPr>
          <a:xfrm>
            <a:off x="302895" y="5926812"/>
            <a:ext cx="2830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35 usuárias analisadas – 100%</a:t>
            </a:r>
          </a:p>
        </p:txBody>
      </p:sp>
    </p:spTree>
    <p:extLst>
      <p:ext uri="{BB962C8B-B14F-4D97-AF65-F5344CB8AC3E}">
        <p14:creationId xmlns:p14="http://schemas.microsoft.com/office/powerpoint/2010/main" val="383723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53827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800" dirty="0" err="1"/>
              <a:t>Correlação</a:t>
            </a:r>
            <a:r>
              <a:rPr sz="2800" dirty="0"/>
              <a:t>: </a:t>
            </a:r>
            <a:r>
              <a:rPr lang="pt-BR" sz="2800" dirty="0"/>
              <a:t>Intensidade</a:t>
            </a:r>
            <a:r>
              <a:rPr sz="2800" dirty="0"/>
              <a:t> vs </a:t>
            </a:r>
            <a:r>
              <a:rPr lang="pt-BR" sz="2800" dirty="0"/>
              <a:t>Calorias</a:t>
            </a:r>
            <a:endParaRPr sz="28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1B4D36D-202D-43B9-A13C-38A518667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" y="1811655"/>
            <a:ext cx="6668078" cy="4115157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E4DB380F-E23B-4D8A-917E-F3A222836232}"/>
              </a:ext>
            </a:extLst>
          </p:cNvPr>
          <p:cNvSpPr txBox="1"/>
          <p:nvPr/>
        </p:nvSpPr>
        <p:spPr>
          <a:xfrm>
            <a:off x="7058025" y="1811655"/>
            <a:ext cx="4831080" cy="40919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Correlação positiva moderada (r = 0.51).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Intensidade impacta o gasto calórico.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Relação mais forte que passos, porém inferior a minutos ativos.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4CD3A6-B073-4193-B5C7-AC9F3D9FC965}"/>
              </a:ext>
            </a:extLst>
          </p:cNvPr>
          <p:cNvSpPr txBox="1"/>
          <p:nvPr/>
        </p:nvSpPr>
        <p:spPr>
          <a:xfrm>
            <a:off x="302894" y="5926812"/>
            <a:ext cx="2878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35 usuárias analisadas – 100%</a:t>
            </a:r>
          </a:p>
        </p:txBody>
      </p:sp>
    </p:spTree>
    <p:extLst>
      <p:ext uri="{BB962C8B-B14F-4D97-AF65-F5344CB8AC3E}">
        <p14:creationId xmlns:p14="http://schemas.microsoft.com/office/powerpoint/2010/main" val="218715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55039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800" dirty="0" err="1"/>
              <a:t>Correlação</a:t>
            </a:r>
            <a:r>
              <a:rPr sz="2800" dirty="0"/>
              <a:t>: </a:t>
            </a:r>
            <a:r>
              <a:rPr lang="pt-BR" sz="2800" dirty="0"/>
              <a:t>Atividade Física</a:t>
            </a:r>
            <a:r>
              <a:rPr sz="2800" dirty="0"/>
              <a:t> vs </a:t>
            </a:r>
            <a:r>
              <a:rPr lang="pt-BR" sz="2800" dirty="0"/>
              <a:t>Sono</a:t>
            </a:r>
            <a:endParaRPr sz="2800" dirty="0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1D39232-43DE-423D-A740-EB812490DC04}"/>
              </a:ext>
            </a:extLst>
          </p:cNvPr>
          <p:cNvSpPr txBox="1"/>
          <p:nvPr/>
        </p:nvSpPr>
        <p:spPr>
          <a:xfrm>
            <a:off x="7058025" y="1811655"/>
            <a:ext cx="4831080" cy="40919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Correlação negativa muito fraca (r = -0.085). Não foi observada relação linear relevante entre atividade física e horas de sono.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endParaRPr lang="pt-BR" u="sng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Sono parece depender de outros fatores comportamentais.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1A600C1-564B-4A1E-8F32-87D619035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" y="1811655"/>
            <a:ext cx="6668078" cy="411515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99BCC22-F5FE-43EC-A521-D4BAE5C7AC48}"/>
              </a:ext>
            </a:extLst>
          </p:cNvPr>
          <p:cNvSpPr txBox="1"/>
          <p:nvPr/>
        </p:nvSpPr>
        <p:spPr>
          <a:xfrm>
            <a:off x="302895" y="5902344"/>
            <a:ext cx="345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24 usuárias analisadas – 69% </a:t>
            </a:r>
          </a:p>
        </p:txBody>
      </p:sp>
    </p:spTree>
    <p:extLst>
      <p:ext uri="{BB962C8B-B14F-4D97-AF65-F5344CB8AC3E}">
        <p14:creationId xmlns:p14="http://schemas.microsoft.com/office/powerpoint/2010/main" val="1538133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0" y="274320"/>
            <a:ext cx="72429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pt-BR" sz="2800" dirty="0"/>
              <a:t>Distribuição da qualidade do Sono por Usuárias</a:t>
            </a:r>
            <a:endParaRPr sz="2800"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F0BD09CB-DFE0-4122-8B7A-03C36924921E}"/>
              </a:ext>
            </a:extLst>
          </p:cNvPr>
          <p:cNvSpPr txBox="1"/>
          <p:nvPr/>
        </p:nvSpPr>
        <p:spPr>
          <a:xfrm>
            <a:off x="7058025" y="1670327"/>
            <a:ext cx="4831080" cy="40919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pt-BR" b="1" dirty="0"/>
              <a:t>Insights</a:t>
            </a:r>
          </a:p>
          <a:p>
            <a:pPr algn="ctr">
              <a:defRPr sz="1800">
                <a:solidFill>
                  <a:srgbClr val="212121"/>
                </a:solidFill>
              </a:defRPr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54% das usuárias apresentam sono adequado.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29% demonstram padrões irregulares (curto, insuficiente ou prolongado).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Indica oportunidade para estratégias focadas em melhoria da qualidade do sono.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F04FAE-6A1D-4167-BAD5-99C560624ABB}"/>
              </a:ext>
            </a:extLst>
          </p:cNvPr>
          <p:cNvSpPr txBox="1"/>
          <p:nvPr/>
        </p:nvSpPr>
        <p:spPr>
          <a:xfrm>
            <a:off x="302895" y="5902344"/>
            <a:ext cx="345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Nota: </a:t>
            </a:r>
            <a:r>
              <a:rPr lang="pt-BR" sz="1400" dirty="0"/>
              <a:t>24 usuárias analisadas – 69%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9B549E2-1FF2-4011-96D5-114CBEC5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6" y="1670327"/>
            <a:ext cx="6668078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22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1" y="274320"/>
            <a:ext cx="33918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pt-BR" sz="2800" dirty="0"/>
              <a:t>Limitações dos Dados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255521" y="1701165"/>
            <a:ext cx="73152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pt-BR" dirty="0"/>
              <a:t>A análise das funcionalidades relacionadas ao registro de sono e peso foi impactada por ausência parcial de dados. A funcionalidade de sono contou com 24 usuárias analisadas (69% da base), enquanto a funcionalidade de peso apresentou apenas 13 usuárias com registros válidos (37% da base).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>
              <a:defRPr sz="1800">
                <a:solidFill>
                  <a:srgbClr val="212121"/>
                </a:solidFill>
              </a:defRPr>
            </a:pPr>
            <a:r>
              <a:rPr lang="pt-BR" dirty="0"/>
              <a:t>Essa diferença de cobertura pode introduzir viés de autoseleção, uma vez que usuárias que optam por registrar peso ou sono podem apresentar perfis comportamentais distintos da base total, limitando a generalização dos resultados.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6809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1" y="274320"/>
            <a:ext cx="2851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800"/>
              <a:t>Principais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5521" y="1701165"/>
            <a:ext cx="73152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r>
              <a:rPr lang="pt-BR" dirty="0"/>
              <a:t>Apenas 37% do total de usuárias(35) da base inseriu informações sobre seu peso no app.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r>
              <a:rPr lang="pt-BR" dirty="0"/>
              <a:t>Engajamento médio predominante.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r>
              <a:rPr lang="pt-BR" dirty="0"/>
              <a:t>Mais minutos de atividade apresentam forte relação com gasto calórico.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r>
              <a:rPr lang="pt-BR" dirty="0"/>
              <a:t>Não foi observada relação linear relevante entre atividade física e horas de sono.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212121"/>
                </a:solidFill>
              </a:defRPr>
            </a:pPr>
            <a:r>
              <a:rPr lang="pt-BR" dirty="0"/>
              <a:t>Forte heterogeneidade comportamental.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5521" y="274320"/>
            <a:ext cx="35406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pt-BR" sz="2800" dirty="0"/>
              <a:t>Recomendações Finais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255521" y="1533525"/>
            <a:ext cx="7574279" cy="492442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pt-BR" b="1" dirty="0"/>
              <a:t>Estratégia Central: 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A personalização baseada em comportamento pode aumentar retenção da faixa de usuárias com médio engajamento e reduzir risco de </a:t>
            </a:r>
            <a:r>
              <a:rPr lang="pt-BR" dirty="0" err="1"/>
              <a:t>churn</a:t>
            </a:r>
            <a:r>
              <a:rPr lang="pt-BR" dirty="0"/>
              <a:t> nos 26% de baixo engajamento.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>
              <a:defRPr sz="1800">
                <a:solidFill>
                  <a:srgbClr val="212121"/>
                </a:solidFill>
              </a:defRPr>
            </a:pPr>
            <a:r>
              <a:rPr lang="pt-BR" b="1" dirty="0"/>
              <a:t>Engajamento Ativo: 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Implementar notificações que informem as usuárias que sua quantidade de passos ao longo do dia está abaixo da média recomendada.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>
              <a:defRPr sz="1800">
                <a:solidFill>
                  <a:srgbClr val="212121"/>
                </a:solidFill>
              </a:defRPr>
            </a:pPr>
            <a:r>
              <a:rPr lang="pt-BR" b="1" dirty="0"/>
              <a:t>Ampliação de Dados de Saúde: 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Incentivar o registro de peso por meio de comunicação educativa, destacando a importância do acompanhamento para metas personalizadas.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pt-BR" u="sng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pt-BR" dirty="0"/>
              <a:t>Expandir o ecossistema do app com módulo educacional focado em nutrição e controle calórico.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endParaRPr lang="pt-BR" u="s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895</Words>
  <Application>Microsoft Office PowerPoint</Application>
  <PresentationFormat>Widescreen</PresentationFormat>
  <Paragraphs>133</Paragraphs>
  <Slides>15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Gabriel Borges</cp:lastModifiedBy>
  <cp:revision>46</cp:revision>
  <dcterms:created xsi:type="dcterms:W3CDTF">2013-01-27T09:14:16Z</dcterms:created>
  <dcterms:modified xsi:type="dcterms:W3CDTF">2026-02-24T02:43:44Z</dcterms:modified>
  <cp:category/>
</cp:coreProperties>
</file>